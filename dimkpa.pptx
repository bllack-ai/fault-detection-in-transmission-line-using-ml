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64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C98A2C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Clean</c:v>
                </c:pt>
                <c:pt idx="1">
                  <c:v>40 dB</c:v>
                </c:pt>
                <c:pt idx="2">
                  <c:v>30 dB</c:v>
                </c:pt>
                <c:pt idx="3">
                  <c:v>20 dB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97.1</c:v>
                </c:pt>
                <c:pt idx="3">
                  <c:v>72.900000000000006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76-422B-A68B-1B7A71CE2D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9525" cap="flat">
              <a:solidFill>
                <a:srgbClr val="D8DC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44 features
(time + sequence)</c:v>
                </c:pt>
                <c:pt idx="1">
                  <c:v>51 features
(+ impedance)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55.3</c:v>
                </c:pt>
                <c:pt idx="1">
                  <c:v>62.8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99-4B6E-9971-376A148678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9525" cap="flat">
              <a:solidFill>
                <a:srgbClr val="D8DC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3829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ln w="15875">
            <a:solidFill>
              <a:srgbClr val="D8DC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65760"/>
            <a:ext cx="2377440" cy="2377440"/>
          </a:xfrm>
          <a:prstGeom prst="ellipse">
            <a:avLst/>
          </a:prstGeom>
          <a:ln w="15875">
            <a:solidFill>
              <a:srgbClr val="D8DCE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B.ENG. PROJECT PRESENTATION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 Detection and Diagnosis in Power System Using Machine Learning Techniques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23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0B2545"/>
                </a:solidFill>
                <a:latin typeface="Calibri" pitchFamily="34" charset="0"/>
                <a:cs typeface="Calibri" pitchFamily="34" charset="-120"/>
              </a:rPr>
              <a:t>Dimpka</a:t>
            </a: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2200" b="1" dirty="0" err="1">
                <a:solidFill>
                  <a:srgbClr val="0B2545"/>
                </a:solidFill>
                <a:latin typeface="Calibri" pitchFamily="34" charset="0"/>
                <a:cs typeface="Calibri" pitchFamily="34" charset="-120"/>
              </a:rPr>
              <a:t>Awajimmama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988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Matriculation Number: FUO/20/EEE/13132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074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Electrical and Electronics Engineering
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Engineering, Federal University Otuoke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[Supervisor's Name]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Detection &amp; Diagnosis in Power Systems Using ML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protection schemes — overcurrent, distance, and differential relaying — rely on fixed thresholds and impedance calculations. They often perform poorly under high-impedance faults, weak-grid conditions, and limited monitoring infrastructure, making rapid and precise fault classification and location difficult to achieve.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3657600" cy="3063240"/>
          </a:xfrm>
          <a:prstGeom prst="roundRect">
            <a:avLst>
              <a:gd name="adj" fmla="val 2388"/>
            </a:avLst>
          </a:prstGeom>
          <a:solidFill>
            <a:srgbClr val="F1F3F5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154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20440"/>
            <a:ext cx="3154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develop and evaluate a Random Forest-based machine learning system for fault detection and diagnosis in a three-phase power transmission network.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2926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34840" y="3291840"/>
            <a:ext cx="310896" cy="310896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34840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24612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 three-phase transmission network in the time domain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34840" y="3776472"/>
            <a:ext cx="310896" cy="310896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34840" y="3776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373075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voltage/current waveforms for healthy and faulted conditions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434840" y="4261104"/>
            <a:ext cx="310896" cy="310896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3484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215384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LG, LL, LLG, and LLL faults at randomised locations &amp; severities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434840" y="4745736"/>
            <a:ext cx="310896" cy="310896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434840" y="4745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4700016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physically meaningful features from the fault waveforms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434840" y="5230368"/>
            <a:ext cx="310896" cy="310896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434840" y="5230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892040" y="518464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Random Forest classifiers for fault type and fault location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434840" y="5715000"/>
            <a:ext cx="310896" cy="310896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434840" y="5715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892040" y="56692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via cross-validation, confusion matrices, and noise testing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TWO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 &amp; Research Gaps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Detection &amp; Diagnosis in Power Systems Using ML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PRIOR WORK ESTABLISHED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74320" cy="2743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664208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Symmetrical components (Fortescue, 1918)
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the standard analytical tool for characterising fault type from voltage/current signatures.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16352"/>
            <a:ext cx="274320" cy="2743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74320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(Breiman, 2001)
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decision trees resist overfitting and combine strong accuracy with interpretability.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95344"/>
            <a:ext cx="274320" cy="2743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822192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 et al. (2020); Fonseca et al. (2022)
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classifiers using statistical/harmonic signal features achieved strong fault-type accuracy.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74336"/>
            <a:ext cx="274320" cy="2743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974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901184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Mukherjee et al. (2021)
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confirm fault location is consistently harder than fault-type classification.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1371600"/>
            <a:ext cx="5577840" cy="4709160"/>
          </a:xfrm>
          <a:prstGeom prst="roundRect">
            <a:avLst>
              <a:gd name="adj" fmla="val 1553"/>
            </a:avLst>
          </a:prstGeom>
          <a:solidFill>
            <a:srgbClr val="F1F3F5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1600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THIS STUDY ADDRESSES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201168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studies rely on commercial or unverified simulation toolchains — limiting transparency and reproducibility.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parameters unavailable at inference time (fault resistance, inception angle) are often left in feature sets, risking data leakage and inflated accuracy.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Fault-location estimation receives far less attention than fault-type classification, despite being the harder problem.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to measurement noise is rarely tested systematically alongside clean-data accuracy.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THREE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Detection &amp; Diagnosis in Power Systems Using ML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F1F3F5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737360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737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42316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 Latitude 3150 laptop (single machine used for all work)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Celeron N2840 processor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GB RAM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graphics processing unit (GPU)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80060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modest hardware profile was a deliberate constraint — it favoured a computationally lightweight simulation and a classical ensemble classifier (Random Forest) over GPU-hungry deep learning architectures.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0760" y="1417320"/>
            <a:ext cx="5577840" cy="4663440"/>
          </a:xfrm>
          <a:prstGeom prst="roundRect">
            <a:avLst>
              <a:gd name="adj" fmla="val 1569"/>
            </a:avLst>
          </a:prstGeom>
          <a:solidFill>
            <a:srgbClr val="F1F3F5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737360"/>
            <a:ext cx="457200" cy="457200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995160" y="1737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(Python 3)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42316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— numerical arrays &amp; linear algebra for the state-space simulation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— supporting numerical routines for simulation development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— dataset assembly, storage, and manipulation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Random Forest, train/test split, cross-validation, metrics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— waveform plots, confusion matrices, feature-importance charts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— persistence of trained classifier models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THREE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— Network Model &amp; Fault Modelling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Detection &amp; Diagnosis in Power Systems Using ML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MODEL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5715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Three-phase source with realistic Thevenin resistance &amp; reactance (needed for voltage sag to appear during faults)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line divided into 6 series-connected sections, each with coupled self/mutual impedance and shunt capacitance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three-phase resistive-inductive (RL) load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as a state-space system using an A-stable implicit backward-Euler / trapezoidal integrator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417320"/>
          <a:ext cx="5212080" cy="2359152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Line-to-line RMS voltage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kV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Hz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sections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Sampling frequency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kHz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Fault-clearing transition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 s (20 ms)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MODELLING &amp; INJECTION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448056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1F3F5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13232" y="4572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LG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713232" y="50292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line-to-ground: one phase to ground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91840" y="448056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1F3F5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56432" y="4572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3456432" y="50292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Line-to-line: two phases tied together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035040" y="448056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1F3F5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99632" y="4572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LLG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50292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line-to-ground: two phases + ground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778240" y="448056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1F3F5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942832" y="4572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LLL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8942832" y="50292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Three-phase: all phases tied together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THREE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— Scenario Generation &amp; Feature Extraction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Detection &amp; Diagnosis in Power Systems Using ML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SCENARIOS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1F3F5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783080"/>
            <a:ext cx="315468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42032"/>
            <a:ext cx="31546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simulation runs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60520" y="16916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1F3F5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97680" y="1783080"/>
            <a:ext cx="315468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2542032"/>
            <a:ext cx="31546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classes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(Normal, LG, LL, LLG, LLL)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0" y="16916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1F3F5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09560" y="1783080"/>
            <a:ext cx="315468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2542032"/>
            <a:ext cx="31546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per class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2461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Randomised per run: fault type, faulted phase(s), fault section (1–6), fault resistance (0–100 Ω), inception angle (0°–180°), fault duration (0.05–0.3 s), small load variation.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— 51 FEATURES PER RUN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389120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437083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Time-domain statistics  </a:t>
            </a: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RMS, mean, std dev, skewness, kurtosis, peak-to-peak across Va, Vb, Vc, Ia, Ib, Ic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901184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48828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Symmetrical component magnitudes  </a:t>
            </a: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Positive-, negative-, zero-sequence RMS for voltage &amp; current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413248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413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" y="53949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ratios  </a:t>
            </a: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V2/V1 and V0/V1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925312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5925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15568" y="59070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Apparent impedance features  </a:t>
            </a: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Magnitude &amp; angle per phase, plus positive-sequence magnitude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THREE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— Model Development &amp; Evaluation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Detection &amp; Diagnosis in Power Systems Using ML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F1F3F5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645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RANDOM FOREST CLASSIFIERS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011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implementation · 200 estimators · fixed random seed · 70% train / 30% held-out test split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69748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28163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Fault-Type Classifier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22783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classes (Normal, LG, LL, LLG, LLL) — trained on all 3,000 runs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29768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4165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Fault-Location Classifier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82803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line sections — trained on the 2,400 fault-containing runs only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1417320"/>
            <a:ext cx="5577840" cy="4663440"/>
          </a:xfrm>
          <a:prstGeom prst="roundRect">
            <a:avLst>
              <a:gd name="adj" fmla="val 1569"/>
            </a:avLst>
          </a:prstGeom>
          <a:solidFill>
            <a:srgbClr val="F1F3F5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1645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METHODOLOGY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05740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cross-validation (mean ± standard deviation)</a:t>
            </a:r>
            <a:endParaRPr lang="en-US" sz="13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confusion matrices and per-class precision, recall, F1-score</a:t>
            </a:r>
            <a:endParaRPr lang="en-US" sz="13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feature-importance ranking (mean decrease in impurity)</a:t>
            </a:r>
            <a:endParaRPr lang="en-US" sz="13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Noise-robustness testing: Gaussian measurement noise added at 40 dB, 30 dB, and 20 dB SNR before feature re-extraction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FOUR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Fault-Type Classifier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Detection &amp; Diagnosis in Power Systems Using ML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1F3F5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08760"/>
            <a:ext cx="23317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67712"/>
            <a:ext cx="233172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accuracy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(900 / 900 correct)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1F3F5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063240"/>
            <a:ext cx="23317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99.90%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822192"/>
            <a:ext cx="233172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0.19% — 5-fold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accuracy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1F3F5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4645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91947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 and negative-sequence voltage/current dominate — the model rediscovered classical symmetrical-component theory.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ROBUSTNESS</a:t>
            </a:r>
            <a:endParaRPr lang="en-US" sz="125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3749040" y="1737360"/>
          <a:ext cx="790956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FOUR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Fault-Location Classifier &amp; Discussion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Detection &amp; Diagnosis in Power Systems Using ML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APPARENT IMPEDANCE FEATURES</a:t>
            </a:r>
            <a:endParaRPr lang="en-US" sz="12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1691640"/>
          <a:ext cx="512064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46634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accuracy improved similarly: 52.4% ± 2.0% → 58.6% ± 2.8%. Of 268 remaining errors, 67% were between physically adjacent line sections.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37160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F1F3F5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0" y="1600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196596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100% vs. 62.8% accuracy gap confirms the literature: fault-type classification is a mature, well-solved problem; fault location from single-ended measurement is not.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Fault-type accuracy degrades gracefully under noise (100% → 72.9% at 20 dB SNR) — not a fragile result.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noiseless at simulation; noise was tested only afterward as a robustness check, not built into training.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206240"/>
            <a:ext cx="5029200" cy="5029200"/>
          </a:xfrm>
          <a:prstGeom prst="ellipse">
            <a:avLst/>
          </a:prstGeom>
          <a:ln w="15875">
            <a:solidFill>
              <a:srgbClr val="D8DCE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FIVE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and evaluated a Random Forest-based fault detection and diagnosis system for a three-phase power transmission network, built on a custom Python time-domain simulation and a 51-feature, physically-grounded feature set.</a:t>
            </a:r>
            <a:endParaRPr lang="en-US" sz="1550" dirty="0"/>
          </a:p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fault-type classifier achieved 100% test accuracy (99.90% ± 0.19% cross-validation) and degraded gracefully under simulated measurement noise, with feature importance confirming physically interpretable, symmetrical-component-consistent behaviour.</a:t>
            </a:r>
            <a:endParaRPr lang="en-US" sz="1550" dirty="0"/>
          </a:p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fault-location classifier achieved a comparatively modest 62.8% test accuracy — confirming that precise fault localisation from a single sending-end measurement point remains a substantially harder problem than fault-type classification, consistent with the broader literature.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100297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1276</Words>
  <Application>Microsoft Office PowerPoint</Application>
  <PresentationFormat>Widescreen</PresentationFormat>
  <Paragraphs>175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wisdom amanama</cp:lastModifiedBy>
  <cp:revision>3</cp:revision>
  <dcterms:created xsi:type="dcterms:W3CDTF">2026-09-03T20:06:10Z</dcterms:created>
  <dcterms:modified xsi:type="dcterms:W3CDTF">2026-09-03T22:05:08Z</dcterms:modified>
</cp:coreProperties>
</file>